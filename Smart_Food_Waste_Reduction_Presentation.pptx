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Georgia"/>
              </a:defRPr>
            </a:pPr>
            <a:r>
              <a:t>SMART FOOD WASTE REDUCTION</a:t>
            </a:r>
          </a:p>
          <a:p>
            <a:pPr>
              <a:spcBef>
                <a:spcPts val="1000"/>
              </a:spcBef>
              <a:defRPr sz="2200">
                <a:solidFill>
                  <a:srgbClr val="9CD4CA"/>
                </a:solidFill>
                <a:latin typeface="Arial"/>
              </a:defRPr>
            </a:pPr>
            <a:r>
              <a:t>Stateful Multi-Agent Orchestration &amp; Compliance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1148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B5F"/>
                </a:solidFill>
                <a:latin typeface="Arial"/>
              </a:defRPr>
            </a:pPr>
            <a:r>
              <a:t>PROJECT SUBMISSION | AGENTS LEAGUE HACKATHON 2026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Built on LangGraph &amp; CrewAI, integrated with Fabric &amp; Foundry IQ layers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211D"/>
                </a:solidFill>
                <a:latin typeface="Georgia"/>
              </a:defRPr>
            </a:pPr>
            <a:r>
              <a:t>The Retail Food Waste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9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2000"/>
              </a:spcAft>
              <a:defRPr sz="1800" b="1">
                <a:solidFill>
                  <a:srgbClr val="B8442D"/>
                </a:solidFill>
                <a:latin typeface="Arial"/>
              </a:defRPr>
            </a:pPr>
            <a:r>
              <a:t>THE PROBLEM</a:t>
            </a:r>
          </a:p>
          <a:p>
            <a:pPr>
              <a:spcBef>
                <a:spcPts val="1000"/>
              </a:spcBef>
              <a:defRPr sz="1400">
                <a:solidFill>
                  <a:srgbClr val="10211D"/>
                </a:solidFill>
                <a:latin typeface="Arial"/>
              </a:defRPr>
            </a:pPr>
            <a:r>
              <a:t>• Supermarkets discard thousands of tons of edible food daily due to rigid inventory schedules.</a:t>
            </a:r>
          </a:p>
          <a:p>
            <a:pPr>
              <a:spcBef>
                <a:spcPts val="1000"/>
              </a:spcBef>
              <a:defRPr sz="1400">
                <a:solidFill>
                  <a:srgbClr val="10211D"/>
                </a:solidFill>
                <a:latin typeface="Arial"/>
              </a:defRPr>
            </a:pPr>
            <a:r>
              <a:t>• Markdown percentages are set manually or statically, ignoring fast-shifting consumer demand trends.</a:t>
            </a:r>
          </a:p>
          <a:p>
            <a:pPr>
              <a:spcBef>
                <a:spcPts val="1000"/>
              </a:spcBef>
              <a:defRPr sz="1400">
                <a:solidFill>
                  <a:srgbClr val="10211D"/>
                </a:solidFill>
                <a:latin typeface="Arial"/>
              </a:defRPr>
            </a:pPr>
            <a:r>
              <a:t>• Store teams lack the real-time decision-support tools needed to coordinate discounts and local rescue groups (donations).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9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2000"/>
              </a:spcAft>
              <a:defRPr sz="1800" b="1">
                <a:solidFill>
                  <a:srgbClr val="006B5F"/>
                </a:solidFill>
                <a:latin typeface="Arial"/>
              </a:defRPr>
            </a:pPr>
            <a:r>
              <a:t>THE REASONING OPPORTUNITY</a:t>
            </a:r>
          </a:p>
          <a:p>
            <a:pPr>
              <a:spcBef>
                <a:spcPts val="1000"/>
              </a:spcBef>
              <a:defRPr sz="1400">
                <a:solidFill>
                  <a:srgbClr val="10211D"/>
                </a:solidFill>
                <a:latin typeface="Arial"/>
              </a:defRPr>
            </a:pPr>
            <a:r>
              <a:t>• Expiry Urgency: Categorize items automatically into Critical (&lt;=3d), Warning (&lt;=7d), and Attention (&lt;=15d) bands.</a:t>
            </a:r>
          </a:p>
          <a:p>
            <a:pPr>
              <a:spcBef>
                <a:spcPts val="1000"/>
              </a:spcBef>
              <a:defRPr sz="1400">
                <a:solidFill>
                  <a:srgbClr val="10211D"/>
                </a:solidFill>
                <a:latin typeface="Arial"/>
              </a:defRPr>
            </a:pPr>
            <a:r>
              <a:t>• Demand Integration: Combine current stock levels with a moving-average demand forecast to estimate coverage.</a:t>
            </a:r>
          </a:p>
          <a:p>
            <a:pPr>
              <a:spcBef>
                <a:spcPts val="1000"/>
              </a:spcBef>
              <a:defRPr sz="1400">
                <a:solidFill>
                  <a:srgbClr val="10211D"/>
                </a:solidFill>
                <a:latin typeface="Arial"/>
              </a:defRPr>
            </a:pPr>
            <a:r>
              <a:t>• Action Grounding: Verify discount percentages and reorder counts against standard operating procedures.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211D"/>
                </a:solidFill>
                <a:latin typeface="Georgia"/>
              </a:defRPr>
            </a:pPr>
            <a:r>
              <a:t>System Design &amp; Multi-Agent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9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2000"/>
              </a:spcAft>
              <a:defRPr sz="1800" b="1">
                <a:solidFill>
                  <a:srgbClr val="006B5F"/>
                </a:solidFill>
                <a:latin typeface="Arial"/>
              </a:defRPr>
            </a:pPr>
            <a:r>
              <a:t>LANGGRAPH: STATEFUL CONTROL</a:t>
            </a:r>
          </a:p>
          <a:p>
            <a:pPr>
              <a:spcBef>
                <a:spcPts val="1000"/>
              </a:spcBef>
              <a:defRPr sz="1400">
                <a:solidFill>
                  <a:srgbClr val="10211D"/>
                </a:solidFill>
                <a:latin typeface="Arial"/>
              </a:defRPr>
            </a:pPr>
            <a:r>
              <a:t>🟢 Stateful Orchestration: Coordinates complex sequential transitions in a deterministic DAG.</a:t>
            </a:r>
          </a:p>
          <a:p>
            <a:pPr>
              <a:spcBef>
                <a:spcPts val="1000"/>
              </a:spcBef>
              <a:defRPr sz="1400">
                <a:solidFill>
                  <a:srgbClr val="10211D"/>
                </a:solidFill>
                <a:latin typeface="Arial"/>
              </a:defRPr>
            </a:pPr>
            <a:r>
              <a:t>🟢 Robust pipeline: Ingests sales and inventory data, then routes processing nodes consecutively.</a:t>
            </a:r>
          </a:p>
          <a:p>
            <a:pPr>
              <a:spcBef>
                <a:spcPts val="1000"/>
              </a:spcBef>
              <a:defRPr sz="1400">
                <a:solidFill>
                  <a:srgbClr val="10211D"/>
                </a:solidFill>
                <a:latin typeface="Arial"/>
              </a:defRPr>
            </a:pPr>
            <a:r>
              <a:t>🟢 Visual Traceability: Stores the execution log directly into Streamlit state for full transparency.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9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2000"/>
              </a:spcAft>
              <a:defRPr sz="1800" b="1">
                <a:solidFill>
                  <a:srgbClr val="B8442D"/>
                </a:solidFill>
                <a:latin typeface="Arial"/>
              </a:defRPr>
            </a:pPr>
            <a:r>
              <a:t>CREWAI: COMPLIANCE AUDITING</a:t>
            </a:r>
          </a:p>
          <a:p>
            <a:pPr>
              <a:spcBef>
                <a:spcPts val="1000"/>
              </a:spcBef>
              <a:defRPr sz="1400">
                <a:solidFill>
                  <a:srgbClr val="10211D"/>
                </a:solidFill>
                <a:latin typeface="Arial"/>
              </a:defRPr>
            </a:pPr>
            <a:r>
              <a:t>🤖 Collaborative Roles: Implements a dedicated 'Supermarket Policy Auditor' agent and verification task.</a:t>
            </a:r>
          </a:p>
          <a:p>
            <a:pPr>
              <a:spcBef>
                <a:spcPts val="1000"/>
              </a:spcBef>
              <a:defRPr sz="1400">
                <a:solidFill>
                  <a:srgbClr val="10211D"/>
                </a:solidFill>
                <a:latin typeface="Arial"/>
              </a:defRPr>
            </a:pPr>
            <a:r>
              <a:t>🤖 Grounding: Verifies that dynamic pricing decisions match the store's knowledge base markdown policies.</a:t>
            </a:r>
          </a:p>
          <a:p>
            <a:pPr>
              <a:spcBef>
                <a:spcPts val="1000"/>
              </a:spcBef>
              <a:defRPr sz="1400">
                <a:solidFill>
                  <a:srgbClr val="10211D"/>
                </a:solidFill>
                <a:latin typeface="Arial"/>
              </a:defRPr>
            </a:pPr>
            <a:r>
              <a:t>🤖 100% Offline LLM: Subclasses BaseLLM to delegate directly to a local RAG retriever. Zero network calls or API cost!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211D"/>
                </a:solidFill>
                <a:latin typeface="Georgia"/>
              </a:defRPr>
            </a:pPr>
            <a:r>
              <a:t>Microsoft Intelligence Layer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9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2000"/>
              </a:spcAft>
              <a:defRPr sz="1800" b="1">
                <a:solidFill>
                  <a:srgbClr val="006B5F"/>
                </a:solidFill>
                <a:latin typeface="Arial"/>
              </a:defRPr>
            </a:pPr>
            <a:r>
              <a:t>FABRIC IQ: SEMANTIC MODELING</a:t>
            </a:r>
          </a:p>
          <a:p>
            <a:pPr>
              <a:spcBef>
                <a:spcPts val="1000"/>
              </a:spcBef>
              <a:defRPr sz="1400">
                <a:solidFill>
                  <a:srgbClr val="10211D"/>
                </a:solidFill>
                <a:latin typeface="Arial"/>
              </a:defRPr>
            </a:pPr>
            <a:r>
              <a:t>✓ Ingests historical sales CSVs and inventory registries to model semantic metrics.</a:t>
            </a:r>
          </a:p>
          <a:p>
            <a:pPr>
              <a:spcBef>
                <a:spcPts val="1000"/>
              </a:spcBef>
              <a:defRPr sz="1400">
                <a:solidFill>
                  <a:srgbClr val="10211D"/>
                </a:solidFill>
                <a:latin typeface="Arial"/>
              </a:defRPr>
            </a:pPr>
            <a:r>
              <a:t>✓ Maintains accurate calculations for metrics like stock values, unit cost margins, and daily sales averages.</a:t>
            </a:r>
          </a:p>
          <a:p>
            <a:pPr>
              <a:spcBef>
                <a:spcPts val="1000"/>
              </a:spcBef>
              <a:defRPr sz="1400">
                <a:solidFill>
                  <a:srgbClr val="10211D"/>
                </a:solidFill>
                <a:latin typeface="Arial"/>
              </a:defRPr>
            </a:pPr>
            <a:r>
              <a:t>✓ Standardizes clean data dimensions to feed into the demand forecasting trend algorithm.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9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2000"/>
              </a:spcAft>
              <a:defRPr sz="1800" b="1">
                <a:solidFill>
                  <a:srgbClr val="B8442D"/>
                </a:solidFill>
                <a:latin typeface="Arial"/>
              </a:defRPr>
            </a:pPr>
            <a:r>
              <a:t>FOUNDRY IQ: KNOWLEDGE &amp; REASONING</a:t>
            </a:r>
          </a:p>
          <a:p>
            <a:pPr>
              <a:spcBef>
                <a:spcPts val="1000"/>
              </a:spcBef>
              <a:defRPr sz="1400">
                <a:solidFill>
                  <a:srgbClr val="10211D"/>
                </a:solidFill>
                <a:latin typeface="Arial"/>
              </a:defRPr>
            </a:pPr>
            <a:r>
              <a:t>✓ Stores standard store guidelines, FSSAI regulations, and markdown SOPs in local knowledge base files.</a:t>
            </a:r>
          </a:p>
          <a:p>
            <a:pPr>
              <a:spcBef>
                <a:spcPts val="1000"/>
              </a:spcBef>
              <a:defRPr sz="1400">
                <a:solidFill>
                  <a:srgbClr val="10211D"/>
                </a:solidFill>
                <a:latin typeface="Arial"/>
              </a:defRPr>
            </a:pPr>
            <a:r>
              <a:t>✓ Provides grounding logic in RAG query retrieval to explain the policy basis for each discount recommendation.</a:t>
            </a:r>
          </a:p>
          <a:p>
            <a:pPr>
              <a:spcBef>
                <a:spcPts val="1000"/>
              </a:spcBef>
              <a:defRPr sz="1400">
                <a:solidFill>
                  <a:srgbClr val="10211D"/>
                </a:solidFill>
                <a:latin typeface="Arial"/>
              </a:defRPr>
            </a:pPr>
            <a:r>
              <a:t>✓ Combines rules and vector databases to guarantee safe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211D"/>
                </a:solidFill>
                <a:latin typeface="Georgia"/>
              </a:defRPr>
            </a:pPr>
            <a:r>
              <a:t>LangGraph Execution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2011680"/>
            <a:ext cx="192024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500"/>
              </a:spcAft>
              <a:defRPr sz="1600" b="1">
                <a:solidFill>
                  <a:srgbClr val="10211D"/>
                </a:solidFill>
                <a:latin typeface="Arial"/>
              </a:defRPr>
            </a:pPr>
            <a:r>
              <a:t>1. EXPIRY</a:t>
            </a:r>
          </a:p>
          <a:p>
            <a:pPr>
              <a:spcBef>
                <a:spcPts val="500"/>
              </a:spcBef>
              <a:defRPr sz="1200">
                <a:solidFill>
                  <a:srgbClr val="10211D"/>
                </a:solidFill>
                <a:latin typeface="Arial"/>
              </a:defRPr>
            </a:pPr>
            <a:r>
              <a:t>Categorizes remaining shelf life into bands.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360" y="2011680"/>
            <a:ext cx="192024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500"/>
              </a:spcAft>
              <a:defRPr sz="1600" b="1">
                <a:solidFill>
                  <a:srgbClr val="006B5F"/>
                </a:solidFill>
                <a:latin typeface="Arial"/>
              </a:defRPr>
            </a:pPr>
            <a:r>
              <a:t>2. DEMAND</a:t>
            </a:r>
          </a:p>
          <a:p>
            <a:pPr>
              <a:spcBef>
                <a:spcPts val="500"/>
              </a:spcBef>
              <a:defRPr sz="1200">
                <a:solidFill>
                  <a:srgbClr val="10211D"/>
                </a:solidFill>
                <a:latin typeface="Arial"/>
              </a:defRPr>
            </a:pPr>
            <a:r>
              <a:t>Calculates 7d demand forecasts via sales trend.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2011680"/>
            <a:ext cx="192024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526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500"/>
              </a:spcAft>
              <a:defRPr sz="1600" b="1">
                <a:solidFill>
                  <a:srgbClr val="52635D"/>
                </a:solidFill>
                <a:latin typeface="Arial"/>
              </a:defRPr>
            </a:pPr>
            <a:r>
              <a:t>3. INVENTORY</a:t>
            </a:r>
          </a:p>
          <a:p>
            <a:pPr>
              <a:spcBef>
                <a:spcPts val="500"/>
              </a:spcBef>
              <a:defRPr sz="1200">
                <a:solidFill>
                  <a:srgbClr val="10211D"/>
                </a:solidFill>
                <a:latin typeface="Arial"/>
              </a:defRPr>
            </a:pPr>
            <a:r>
              <a:t>Evaluates stock gap and determines reorder recommendations.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269480" y="2011680"/>
            <a:ext cx="192024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B84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500"/>
              </a:spcAft>
              <a:defRPr sz="1600" b="1">
                <a:solidFill>
                  <a:srgbClr val="B8442D"/>
                </a:solidFill>
                <a:latin typeface="Arial"/>
              </a:defRPr>
            </a:pPr>
            <a:r>
              <a:t>4. PRICING</a:t>
            </a:r>
          </a:p>
          <a:p>
            <a:pPr>
              <a:spcBef>
                <a:spcPts val="500"/>
              </a:spcBef>
              <a:defRPr sz="1200">
                <a:solidFill>
                  <a:srgbClr val="10211D"/>
                </a:solidFill>
                <a:latin typeface="Arial"/>
              </a:defRPr>
            </a:pPr>
            <a:r>
              <a:t>Applies dynamic discounts based on expiry critical rules.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464040" y="2011680"/>
            <a:ext cx="192024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500"/>
              </a:spcAft>
              <a:defRPr sz="1600" b="1">
                <a:solidFill>
                  <a:srgbClr val="006B5F"/>
                </a:solidFill>
                <a:latin typeface="Arial"/>
              </a:defRPr>
            </a:pPr>
            <a:r>
              <a:t>5. RESCUE</a:t>
            </a:r>
          </a:p>
          <a:p>
            <a:pPr>
              <a:spcBef>
                <a:spcPts val="500"/>
              </a:spcBef>
              <a:defRPr sz="1200">
                <a:solidFill>
                  <a:srgbClr val="10211D"/>
                </a:solidFill>
                <a:latin typeface="Arial"/>
              </a:defRPr>
            </a:pPr>
            <a:r>
              <a:t>Recommends donations or discounts.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30352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2635D"/>
                </a:solidFill>
                <a:latin typeface="Arial"/>
              </a:defRPr>
            </a:pPr>
            <a:r>
              <a:t>Stateful agent control guarantees every process step completes before the next node executes, avoiding loose data structures.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Hackathon Demo &amp; Rubric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3328416" cy="4114800"/>
          </a:xfrm>
          <a:prstGeom prst="rect">
            <a:avLst/>
          </a:prstGeom>
          <a:solidFill>
            <a:srgbClr val="10211D"/>
          </a:solidFill>
          <a:ln w="19050">
            <a:solidFill>
              <a:srgbClr val="00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000"/>
              </a:spcAft>
              <a:defRPr sz="1200" b="1">
                <a:solidFill>
                  <a:srgbClr val="006B5F"/>
                </a:solidFill>
                <a:latin typeface="Arial"/>
              </a:defRPr>
            </a:pPr>
            <a:r>
              <a:t>REASONING &amp; SAFETY</a:t>
            </a:r>
          </a:p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Local Grounding</a:t>
            </a:r>
          </a:p>
          <a:p>
            <a:pPr>
              <a:spcBef>
                <a:spcPts val="800"/>
              </a:spcBef>
              <a:defRPr sz="1300">
                <a:solidFill>
                  <a:srgbClr val="BEC8C4"/>
                </a:solidFill>
                <a:latin typeface="Arial"/>
              </a:defRPr>
            </a:pPr>
            <a:r>
              <a:t>• 100% Grounded in local policy SOP markdown documents.</a:t>
            </a:r>
          </a:p>
          <a:p>
            <a:pPr>
              <a:spcBef>
                <a:spcPts val="800"/>
              </a:spcBef>
              <a:defRPr sz="1300">
                <a:solidFill>
                  <a:srgbClr val="BEC8C4"/>
                </a:solidFill>
                <a:latin typeface="Arial"/>
              </a:defRPr>
            </a:pPr>
            <a:r>
              <a:t>• Avoids LLM hallucination and keeps logic stable.</a:t>
            </a:r>
          </a:p>
          <a:p>
            <a:pPr>
              <a:spcBef>
                <a:spcPts val="800"/>
              </a:spcBef>
              <a:defRPr sz="1300">
                <a:solidFill>
                  <a:srgbClr val="BEC8C4"/>
                </a:solidFill>
                <a:latin typeface="Arial"/>
              </a:defRPr>
            </a:pPr>
            <a:r>
              <a:t>• Custom LLM ensures offline resilience &amp; zero execution latency.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425696" y="1645920"/>
            <a:ext cx="3328416" cy="4114800"/>
          </a:xfrm>
          <a:prstGeom prst="rect">
            <a:avLst/>
          </a:prstGeom>
          <a:solidFill>
            <a:srgbClr val="10211D"/>
          </a:solidFill>
          <a:ln w="19050">
            <a:solidFill>
              <a:srgbClr val="B84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000"/>
              </a:spcAft>
              <a:defRPr sz="1200" b="1">
                <a:solidFill>
                  <a:srgbClr val="B8442D"/>
                </a:solidFill>
                <a:latin typeface="Arial"/>
              </a:defRPr>
            </a:pPr>
            <a:r>
              <a:t>USER EXPERIENCE</a:t>
            </a:r>
          </a:p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Interactive Dashboard</a:t>
            </a:r>
          </a:p>
          <a:p>
            <a:pPr>
              <a:spcBef>
                <a:spcPts val="800"/>
              </a:spcBef>
              <a:defRPr sz="1300">
                <a:solidFill>
                  <a:srgbClr val="BEC8C4"/>
                </a:solidFill>
                <a:latin typeface="Arial"/>
              </a:defRPr>
            </a:pPr>
            <a:r>
              <a:t>• Streamlit layout with metric cards &amp; category-level breakdowns.</a:t>
            </a:r>
          </a:p>
          <a:p>
            <a:pPr>
              <a:spcBef>
                <a:spcPts val="800"/>
              </a:spcBef>
              <a:defRPr sz="1300">
                <a:solidFill>
                  <a:srgbClr val="BEC8C4"/>
                </a:solidFill>
                <a:latin typeface="Arial"/>
              </a:defRPr>
            </a:pPr>
            <a:r>
              <a:t>• Demand Trend graphs plotting historical sales vs 7d forecast.</a:t>
            </a:r>
          </a:p>
          <a:p>
            <a:pPr>
              <a:spcBef>
                <a:spcPts val="800"/>
              </a:spcBef>
              <a:defRPr sz="1300">
                <a:solidFill>
                  <a:srgbClr val="BEC8C4"/>
                </a:solidFill>
                <a:latin typeface="Arial"/>
              </a:defRPr>
            </a:pPr>
            <a:r>
              <a:t>• Real-time visual tracing expander showing node logs.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165592" y="1645920"/>
            <a:ext cx="3328416" cy="4114800"/>
          </a:xfrm>
          <a:prstGeom prst="rect">
            <a:avLst/>
          </a:prstGeom>
          <a:solidFill>
            <a:srgbClr val="10211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0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ENTERPRISE READY</a:t>
            </a:r>
          </a:p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Business SOPs</a:t>
            </a:r>
          </a:p>
          <a:p>
            <a:pPr>
              <a:spcBef>
                <a:spcPts val="800"/>
              </a:spcBef>
              <a:defRPr sz="1300">
                <a:solidFill>
                  <a:srgbClr val="BEC8C4"/>
                </a:solidFill>
                <a:latin typeface="Arial"/>
              </a:defRPr>
            </a:pPr>
            <a:r>
              <a:t>• Reduces waste and optimizes store margins.</a:t>
            </a:r>
          </a:p>
          <a:p>
            <a:pPr>
              <a:spcBef>
                <a:spcPts val="800"/>
              </a:spcBef>
              <a:defRPr sz="1300">
                <a:solidFill>
                  <a:srgbClr val="BEC8C4"/>
                </a:solidFill>
                <a:latin typeface="Arial"/>
              </a:defRPr>
            </a:pPr>
            <a:r>
              <a:t>• Automates local NGO food donation workflows.</a:t>
            </a:r>
          </a:p>
          <a:p>
            <a:pPr>
              <a:spcBef>
                <a:spcPts val="800"/>
              </a:spcBef>
              <a:defRPr sz="1300">
                <a:solidFill>
                  <a:srgbClr val="BEC8C4"/>
                </a:solidFill>
                <a:latin typeface="Arial"/>
              </a:defRPr>
            </a:pPr>
            <a:r>
              <a:t>• Provides downloadable PDF/CSV reports with audit justification.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